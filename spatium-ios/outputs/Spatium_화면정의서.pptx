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8615958542409e" /><Relationship Type="http://schemas.openxmlformats.org/officeDocument/2006/relationships/extended-properties" Target="/docProps/app.xml" Id="R02e60a150ac74081" /><Relationship Type="http://schemas.openxmlformats.org/officeDocument/2006/relationships/officeDocument" Target="/ppt/presentation.xml" Id="R1e94092230864b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9e65b25dce49a1"/>
  </p:sldMasterIdLst>
  <p:notesMasterIdLst>
    <p:notesMasterId xmlns:r="http://schemas.openxmlformats.org/officeDocument/2006/relationships" r:id="Rbac72a3eed1f4fdd"/>
  </p:notesMasterIdLst>
  <p:sldIdLst>
    <p:sldId xmlns:r="http://schemas.openxmlformats.org/officeDocument/2006/relationships" id="256" r:id="Rfe30d6be182c44ba"/>
    <p:sldId xmlns:r="http://schemas.openxmlformats.org/officeDocument/2006/relationships" id="257" r:id="Re4de776ac28a42c0"/>
    <p:sldId xmlns:r="http://schemas.openxmlformats.org/officeDocument/2006/relationships" id="258" r:id="Rd0f6a48af9d14dae"/>
    <p:sldId xmlns:r="http://schemas.openxmlformats.org/officeDocument/2006/relationships" id="259" r:id="R8721de90614a43e1"/>
    <p:sldId xmlns:r="http://schemas.openxmlformats.org/officeDocument/2006/relationships" id="260" r:id="Re916a62bb0454e11"/>
    <p:sldId xmlns:r="http://schemas.openxmlformats.org/officeDocument/2006/relationships" id="261" r:id="R5dfa2bf3149c436e"/>
    <p:sldId xmlns:r="http://schemas.openxmlformats.org/officeDocument/2006/relationships" id="262" r:id="R64b039f431a14b77"/>
    <p:sldId xmlns:r="http://schemas.openxmlformats.org/officeDocument/2006/relationships" id="263" r:id="R1cb176bd89cf4f68"/>
    <p:sldId xmlns:r="http://schemas.openxmlformats.org/officeDocument/2006/relationships" id="264" r:id="R824fd1735d914e09"/>
    <p:sldId xmlns:r="http://schemas.openxmlformats.org/officeDocument/2006/relationships" id="265" r:id="Rb5ef86d321484e8c"/>
    <p:sldId xmlns:r="http://schemas.openxmlformats.org/officeDocument/2006/relationships" id="266" r:id="Rf931e40d0e914b6c"/>
    <p:sldId xmlns:r="http://schemas.openxmlformats.org/officeDocument/2006/relationships" id="267" r:id="Rd93300d636ce4247"/>
    <p:sldId xmlns:r="http://schemas.openxmlformats.org/officeDocument/2006/relationships" id="268" r:id="Rc04d2636f1ca4984"/>
    <p:sldId xmlns:r="http://schemas.openxmlformats.org/officeDocument/2006/relationships" id="269" r:id="Ra641ff5d45594996"/>
  </p:sldIdLst>
  <p:sldSz cx="6854825" cy="990282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314e20cd524e45" /><Relationship Type="http://schemas.openxmlformats.org/officeDocument/2006/relationships/slideMaster" Target="/ppt/slideMasters/slideMaster1.xml" Id="Rea9e65b25dce49a1" /><Relationship Type="http://schemas.openxmlformats.org/officeDocument/2006/relationships/notesMaster" Target="/ppt/notesMasters/notesMaster1.xml" Id="Rbac72a3eed1f4fdd" /><Relationship Type="http://schemas.openxmlformats.org/officeDocument/2006/relationships/presProps" Target="/ppt/presProps.xml" Id="Rd6891313ba0445d5" /><Relationship Type="http://schemas.openxmlformats.org/officeDocument/2006/relationships/tableStyles" Target="/ppt/tableStyles.xml" Id="R0c7212bc3962450c" /><Relationship Type="http://schemas.openxmlformats.org/officeDocument/2006/relationships/slide" Target="/ppt/slides/slide1.xml" Id="Rfe30d6be182c44ba" /><Relationship Type="http://schemas.openxmlformats.org/officeDocument/2006/relationships/slide" Target="/ppt/slides/slide2.xml" Id="Re4de776ac28a42c0" /><Relationship Type="http://schemas.openxmlformats.org/officeDocument/2006/relationships/slide" Target="/ppt/slides/slide3.xml" Id="Rd0f6a48af9d14dae" /><Relationship Type="http://schemas.openxmlformats.org/officeDocument/2006/relationships/slide" Target="/ppt/slides/slide4.xml" Id="R8721de90614a43e1" /><Relationship Type="http://schemas.openxmlformats.org/officeDocument/2006/relationships/slide" Target="/ppt/slides/slide5.xml" Id="Re916a62bb0454e11" /><Relationship Type="http://schemas.openxmlformats.org/officeDocument/2006/relationships/slide" Target="/ppt/slides/slide6.xml" Id="R5dfa2bf3149c436e" /><Relationship Type="http://schemas.openxmlformats.org/officeDocument/2006/relationships/slide" Target="/ppt/slides/slide7.xml" Id="R64b039f431a14b77" /><Relationship Type="http://schemas.openxmlformats.org/officeDocument/2006/relationships/slide" Target="/ppt/slides/slide8.xml" Id="R1cb176bd89cf4f68" /><Relationship Type="http://schemas.openxmlformats.org/officeDocument/2006/relationships/slide" Target="/ppt/slides/slide9.xml" Id="R824fd1735d914e09" /><Relationship Type="http://schemas.openxmlformats.org/officeDocument/2006/relationships/slide" Target="/ppt/slides/slide10.xml" Id="Rb5ef86d321484e8c" /><Relationship Type="http://schemas.openxmlformats.org/officeDocument/2006/relationships/slide" Target="/ppt/slides/slide11.xml" Id="Rf931e40d0e914b6c" /><Relationship Type="http://schemas.openxmlformats.org/officeDocument/2006/relationships/slide" Target="/ppt/slides/slide12.xml" Id="Rd93300d636ce4247" /><Relationship Type="http://schemas.openxmlformats.org/officeDocument/2006/relationships/slide" Target="/ppt/slides/slide13.xml" Id="Rc04d2636f1ca4984" /><Relationship Type="http://schemas.openxmlformats.org/officeDocument/2006/relationships/slide" Target="/ppt/slides/slide14.xml" Id="Ra641ff5d455949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279957b6264f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c60ba67a10415c" /><Relationship Type="http://schemas.openxmlformats.org/officeDocument/2006/relationships/notesMaster" Target="/ppt/notesMasters/notesMaster1.xml" Id="R3babe8f3403542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fca49e42b74464" /><Relationship Type="http://schemas.openxmlformats.org/officeDocument/2006/relationships/notesMaster" Target="/ppt/notesMasters/notesMaster1.xml" Id="Rfc251c6a925d45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d1620fdada463e" /><Relationship Type="http://schemas.openxmlformats.org/officeDocument/2006/relationships/notesMaster" Target="/ppt/notesMasters/notesMaster1.xml" Id="R39147234f4b844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18fc5cb9c34266" /><Relationship Type="http://schemas.openxmlformats.org/officeDocument/2006/relationships/notesMaster" Target="/ppt/notesMasters/notesMaster1.xml" Id="R0725bad531ec47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24e250bcb34144" /><Relationship Type="http://schemas.openxmlformats.org/officeDocument/2006/relationships/notesMaster" Target="/ppt/notesMasters/notesMaster1.xml" Id="R1e5659b54ce540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6a892201044227" /><Relationship Type="http://schemas.openxmlformats.org/officeDocument/2006/relationships/notesMaster" Target="/ppt/notesMasters/notesMaster1.xml" Id="R6467cf4fdf7f40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7604d18e244360" /><Relationship Type="http://schemas.openxmlformats.org/officeDocument/2006/relationships/notesMaster" Target="/ppt/notesMasters/notesMaster1.xml" Id="R3c627db79fc145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a5385e01a74cb2" /><Relationship Type="http://schemas.openxmlformats.org/officeDocument/2006/relationships/notesMaster" Target="/ppt/notesMasters/notesMaster1.xml" Id="R14d27b9983604b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a13d40be884125" /><Relationship Type="http://schemas.openxmlformats.org/officeDocument/2006/relationships/notesMaster" Target="/ppt/notesMasters/notesMaster1.xml" Id="R3fc77c65018b43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6958bcac60451d" /><Relationship Type="http://schemas.openxmlformats.org/officeDocument/2006/relationships/notesMaster" Target="/ppt/notesMasters/notesMaster1.xml" Id="R50048bc7d5cc4e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9ced2a5a034ff0" /><Relationship Type="http://schemas.openxmlformats.org/officeDocument/2006/relationships/notesMaster" Target="/ppt/notesMasters/notesMaster1.xml" Id="R16d981d805964e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21fe04e82549e3" /><Relationship Type="http://schemas.openxmlformats.org/officeDocument/2006/relationships/notesMaster" Target="/ppt/notesMasters/notesMaster1.xml" Id="R736da4da6d3845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2a1ee41a334489" /><Relationship Type="http://schemas.openxmlformats.org/officeDocument/2006/relationships/notesMaster" Target="/ppt/notesMasters/notesMaster1.xml" Id="R6ee21774e75f46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497b373d904132" /><Relationship Type="http://schemas.openxmlformats.org/officeDocument/2006/relationships/notesMaster" Target="/ppt/notesMasters/notesMaster1.xml" Id="Rddb7ca1d07344e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4a596234574885" /></Relationships>
</file>

<file path=ppt/slideLayouts/slideLayout1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B519BCF-C9FE-4078-84D8-89732F6097F9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Spatium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D32FF41-2F2B-464B-A335-14B9C71E1666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DD3460-7149-46BF-B360-4FD323FD52B8}" type="slidenum">
              <a:t>&lt;#&gt;</a:t>
            </a:fld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F8E9235-B984-4B50-B1BC-1EDFA9343A5A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1b15a5ef5d4d06" /><Relationship Type="http://schemas.openxmlformats.org/officeDocument/2006/relationships/slideLayout" Target="/ppt/slideLayouts/slideLayout1.xml" Id="Rec2e68c6d7db4ae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82254-5E6A-447B-8C56-9F923A95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0" y="341280"/>
            <a:ext cx="61736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화면정의서</a:t>
            </a:r>
          </a:p>
        </p:txBody>
      </p:sp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AD63648-6932-4973-87A0-305FBC8909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1280" y="395280"/>
            <a:ext cx="6170400" cy="1650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10000"/>
              </a:lnSpc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lnSpc>
                <a:spcPct val="110000"/>
              </a:lnSpc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84990ED-E3C3-4ADC-82E5-8443DD3A70AE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>
          <a:xfrm xmlns:a="http://schemas.openxmlformats.org/drawingml/2006/main">
            <a:off x="340920" y="9177120"/>
            <a:ext cx="1600200" cy="52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>
            <a:lvl1pPr indent="0" algn="l">
              <a:spcBef>
                <a:spcPts val="451"/>
              </a:spcBef>
              <a:buNone/>
              <a:defRPr sz="1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l">
              <a:spcBef>
                <a:spcPts val="451"/>
              </a:spcBef>
              <a:buNone/>
            </a:pPr>
            <a:r>
              <a:rPr sz="1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046551B4-2F63-47E5-8445-2625101E7D8A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>
          <a:xfrm xmlns:a="http://schemas.openxmlformats.org/drawingml/2006/main">
            <a:off x="2341440" y="9177120"/>
            <a:ext cx="2171520" cy="52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>
            <a:lvl1pPr indent="0" algn="l">
              <a:spcBef>
                <a:spcPts val="451"/>
              </a:spcBef>
              <a:buNone/>
              <a:defRPr sz="1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l">
              <a:spcBef>
                <a:spcPts val="451"/>
              </a:spcBef>
              <a:buNone/>
            </a:pPr>
            <a:r>
              <a:rPr sz="1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Spatium</a:t>
            </a:r>
          </a:p>
        </p:txBody>
      </p:sp>
      <p:sp>
        <p:nvSpPr>
          <p:cNvPr id="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118A326A-40A7-46B8-A6F1-8D56C5C3F041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>
          <a:xfrm xmlns:a="http://schemas.openxmlformats.org/drawingml/2006/main">
            <a:off x="4913280" y="9177120"/>
            <a:ext cx="1598400" cy="52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>
            <a:lvl1pPr indent="0" algn="l">
              <a:spcBef>
                <a:spcPts val="451"/>
              </a:spcBef>
              <a:buNone/>
              <a:defRPr sz="1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l">
              <a:spcBef>
                <a:spcPts val="451"/>
              </a:spcBef>
              <a:buNone/>
            </a:pPr>
            <a:fld id="{D7EAE7A5-583F-4B8C-949D-1D86C73A38D7}" type="slidenum">
              <a:rPr sz="1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&lt;number&gt;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2e68c6d7db4ae4"/>
  </p:sldLayoutIdLst>
</p:sldMaster>
</file>

<file path=ppt/slideMasters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7abdadadf4f47" /><Relationship Type="http://schemas.openxmlformats.org/officeDocument/2006/relationships/image" Target="/ppt/media/image.jpeg" Id="R3ac1c7052664491b" /><Relationship Type="http://schemas.openxmlformats.org/officeDocument/2006/relationships/notesSlide" Target="/ppt/notesSlides/notesSlide1.xml" Id="Rb119d527eae142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7653c3ac149c4" /><Relationship Type="http://schemas.openxmlformats.org/officeDocument/2006/relationships/image" Target="/ppt/media/image2.jpeg" Id="Rc6c6e7ffe8624e68" /><Relationship Type="http://schemas.openxmlformats.org/officeDocument/2006/relationships/notesSlide" Target="/ppt/notesSlides/notesSlide2.xml" Id="R4fb21af9ae7d42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abea6d0fa4c3b" /><Relationship Type="http://schemas.openxmlformats.org/officeDocument/2006/relationships/image" Target="/ppt/media/image3.jpeg" Id="R985a6f893ee445b8" /><Relationship Type="http://schemas.openxmlformats.org/officeDocument/2006/relationships/notesSlide" Target="/ppt/notesSlides/notesSlide3.xml" Id="R0d8ffc2f1da344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66bed04fa4fc1" /><Relationship Type="http://schemas.openxmlformats.org/officeDocument/2006/relationships/image" Target="/ppt/media/image4.jpeg" Id="Rf4b186d0e3464cae" /><Relationship Type="http://schemas.openxmlformats.org/officeDocument/2006/relationships/notesSlide" Target="/ppt/notesSlides/notesSlide4.xml" Id="Rafc48b37132f40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95327936748b4" /><Relationship Type="http://schemas.openxmlformats.org/officeDocument/2006/relationships/image" Target="/ppt/media/image.png" Id="R22f9b9b0b7c44a8f" /><Relationship Type="http://schemas.openxmlformats.org/officeDocument/2006/relationships/notesSlide" Target="/ppt/notesSlides/notesSlide5.xml" Id="R0f34234641174c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8d2efd87847fa" /><Relationship Type="http://schemas.openxmlformats.org/officeDocument/2006/relationships/image" Target="/ppt/media/image5.jpeg" Id="Rcd3f6d3e81e2456c" /><Relationship Type="http://schemas.openxmlformats.org/officeDocument/2006/relationships/notesSlide" Target="/ppt/notesSlides/notesSlide6.xml" Id="Rcc21182031154f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f54bd1b254c89" /><Relationship Type="http://schemas.openxmlformats.org/officeDocument/2006/relationships/image" Target="/ppt/media/image6.jpeg" Id="Rcdaeba1e626e4f79" /><Relationship Type="http://schemas.openxmlformats.org/officeDocument/2006/relationships/notesSlide" Target="/ppt/notesSlides/notesSlide7.xml" Id="R068b380cfa4b46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c465a591a4aeb" /><Relationship Type="http://schemas.openxmlformats.org/officeDocument/2006/relationships/image" Target="/ppt/media/image7.jpeg" Id="Re0a7d7aea93c43bb" /><Relationship Type="http://schemas.openxmlformats.org/officeDocument/2006/relationships/notesSlide" Target="/ppt/notesSlides/notesSlide8.xml" Id="Rf897402f0fa540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51b5264dc4e4a" /><Relationship Type="http://schemas.openxmlformats.org/officeDocument/2006/relationships/image" Target="/ppt/media/image8.jpeg" Id="R1a8dabbd5a204c41" /><Relationship Type="http://schemas.openxmlformats.org/officeDocument/2006/relationships/notesSlide" Target="/ppt/notesSlides/notesSlide9.xml" Id="R8124061dafb64a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16be1c58143de" /><Relationship Type="http://schemas.openxmlformats.org/officeDocument/2006/relationships/image" Target="/ppt/media/image9.jpeg" Id="Rd090404200c446ea" /><Relationship Type="http://schemas.openxmlformats.org/officeDocument/2006/relationships/notesSlide" Target="/ppt/notesSlides/notesSlide10.xml" Id="R3bacbaac50e044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4cd5c7a0c4ffd" /><Relationship Type="http://schemas.openxmlformats.org/officeDocument/2006/relationships/image" Target="/ppt/media/image10.jpeg" Id="R61203489fde34648" /><Relationship Type="http://schemas.openxmlformats.org/officeDocument/2006/relationships/notesSlide" Target="/ppt/notesSlides/notesSlide11.xml" Id="Rb67313d9ec9244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0a0b82d9c420e" /><Relationship Type="http://schemas.openxmlformats.org/officeDocument/2006/relationships/image" Target="/ppt/media/image11.jpeg" Id="R5ab6f2c53fb34790" /><Relationship Type="http://schemas.openxmlformats.org/officeDocument/2006/relationships/notesSlide" Target="/ppt/notesSlides/notesSlide12.xml" Id="R66b7c0a2e7454e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c768ddaf14330" /><Relationship Type="http://schemas.openxmlformats.org/officeDocument/2006/relationships/image" Target="/ppt/media/image12.jpeg" Id="R92ef48a541a3471f" /><Relationship Type="http://schemas.openxmlformats.org/officeDocument/2006/relationships/notesSlide" Target="/ppt/notesSlides/notesSlide13.xml" Id="R21fcee483af94e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237c368844e18" /><Relationship Type="http://schemas.openxmlformats.org/officeDocument/2006/relationships/image" Target="/ppt/media/image2.png" Id="R179fc080ea624269" /><Relationship Type="http://schemas.openxmlformats.org/officeDocument/2006/relationships/notesSlide" Target="/ppt/notesSlides/notesSlide14.xml" Id="Rc38e0c5de4a54b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인증/계정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프로젝트팀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로그인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</a:t>
                      </a: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AUTH-LOGIN-001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이메일 또는 소셜 계정으로 로그인하고 게스트 진입을 제공한다.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 lIns="90000" tIns="46800" rIns="90000" bIns="46800" anchor="t">
                      <a:noAutofit/>
                    </a:bodyPr>
                    <a:lstStyle/>
                    <a:p/>
                  </a:txBody>
                  <a:tcPr marL="90000" marR="90000" marT="46800" marB="4680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이메일/비밀번호를 입력하면 로그인 버튼이 활성화된다.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Apple 또는 Google 계정으로 소셜 로그인을 진행한다.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회원가입 버튼은 신규 계정 입력 화면을 연다.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로그인 없이 둘러보기를 선택하면 게스트로 메인 화면에 진입한다.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게스트 프로젝트가 있으면 로그인 전 데이터 소실 경고를 표시한다.</a:t>
                      </a:r>
                    </a:p>
                  </a:txBody>
                  <a:tcPr marL="91440" marR="91440" marT="45720" marB="4572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앱 시작 &gt; 로그인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1c7052664491b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인증/계정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프로젝트팀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회원가입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</a:t>
                      </a: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AUTH-SIGNUP-002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필수 사용자 정보와 약관 동의를 받아 신규 계정을 생성한다.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 lIns="90000" tIns="46800" rIns="90000" bIns="46800" anchor="t">
                      <a:noAutofit/>
                    </a:bodyPr>
                    <a:lstStyle/>
                    <a:p/>
                  </a:txBody>
                  <a:tcPr marL="90000" marR="90000" marT="46800" marB="4680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이메일, 닉네임, 비밀번호를 입력한다.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비밀번호는 8자 이상이며 영문과 숫자를 모두 포함해야 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생년월일과 성별을 선택한다.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이용약관과 개인정보 수집·이용 동의가 모두 필요하다.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가입 완료 후 입력한 이메일을 로그인 화면에 전달한다.</a:t>
                      </a:r>
                    </a:p>
                  </a:txBody>
                  <a:tcPr marL="91440" marR="91440" marT="45720" marB="4572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로그인 &gt; 회원가입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6e7ffe8624e68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메인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프로젝트팀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홈 대시보드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</a:t>
                      </a: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HOME-DASH-001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스캔 시작, 프로젝트 현황, 최근 기록과 스캔 가이드를 제공한다.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 lIns="90000" tIns="46800" rIns="90000" bIns="46800" anchor="t">
                      <a:noAutofit/>
                    </a:bodyPr>
                    <a:lstStyle/>
                    <a:p/>
                  </a:txBody>
                  <a:tcPr marL="90000" marR="90000" marT="46800" marB="4680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새 공간 스캔 시작하기는 프로젝트 생성 후 RoomPlan 스캔을 연다.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진행 중인 프로젝트와 스캔 완료 방의 개수를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최근 프로젝트를 선택하면 해당 프로젝트 상세로 이동한다.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조명, 이동 속도, 장애물 정돈 등 스캔 가이드를 제공한다.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하단 탭 이동과 당겨서 새로고침을 지원한다.</a:t>
                      </a:r>
                    </a:p>
                  </a:txBody>
                  <a:tcPr marL="91440" marR="91440" marT="45720" marB="4572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메인 탭 &gt; 홈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a6f893ee445b8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프로젝트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프로젝트팀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프로젝트 목록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</a:t>
                      </a: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PROJECT-LIST-001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프로젝트와 사용자가 만든 가구를 한곳에서 조회·관리한다.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 lIns="90000" tIns="46800" rIns="90000" bIns="46800" anchor="t">
                      <a:noAutofit/>
                    </a:bodyPr>
                    <a:lstStyle/>
                    <a:p/>
                  </a:txBody>
                  <a:tcPr marL="90000" marR="90000" marT="46800" marB="4680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전체 프로젝트 수와 방 개수, 최근 수정 시각을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새 프로젝트 버튼은 프로젝트 생성 화면을 연다.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프로젝트 카드를 탭하면 프로젝트 상세 화면으로 이동한다.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내 가구 영역은 Image-to-3D로 저장한 모델을 표시하고 삭제한다.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로그인 사용자는 서버 동기화, 게스트는 기기 로컬 저장을 사용한다.</a:t>
                      </a:r>
                    </a:p>
                  </a:txBody>
                  <a:tcPr marL="91440" marR="91440" marT="45720" marB="4572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메인 탭 &gt; 프로젝트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186d0e3464cae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프로젝트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프로젝트팀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새 프로젝트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</a:t>
                      </a: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PROJECT-CREATE-002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프로젝트 이름을 입력해 새 프로젝트를 만들고 스캔을 시작한다.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 lIns="90000" tIns="46800" rIns="90000" bIns="46800" anchor="t">
                      <a:noAutofit/>
                    </a:bodyPr>
                    <a:lstStyle/>
                    <a:p/>
                  </a:txBody>
                  <a:tcPr marL="90000" marR="90000" marT="46800" marB="4680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프로젝트 이름을 입력하며 앞뒤 공백은 제거한다.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이름이 비어 있으면 생성 버튼을 비활성화한다.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프로젝트 만들고 스캔 시작은 저장 후 스캐너를 연다.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생성 중에는 중복 요청과 취소를 막고 오류 메시지를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키보드를 포함한 전체 화면 입력 흐름으로 표시한다.</a:t>
                      </a:r>
                    </a:p>
                  </a:txBody>
                  <a:tcPr marL="91440" marR="91440" marT="45720" marB="4572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프로젝트 &gt; 새 프로젝트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9b9b0b7c44a8f"/>
          <a:stretch xmlns:a="http://schemas.openxmlformats.org/drawingml/2006/main"/>
        </p:blipFill>
        <p:spPr>
          <a:xfrm xmlns:a="http://schemas.openxmlformats.org/drawingml/2006/main">
            <a:off x="2621316" y="2935080"/>
            <a:ext cx="1754689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프로젝트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프로젝트팀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프로젝트 상세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</a:t>
                      </a: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PROJECT-DETAIL-003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프로젝트 정보와 포함된 방을 조회하고 이름 변경·삭제·추가한다.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 lIns="90000" tIns="46800" rIns="90000" bIns="46800" anchor="t">
                      <a:noAutofit/>
                    </a:bodyPr>
                    <a:lstStyle/>
                    <a:p/>
                  </a:txBody>
                  <a:tcPr marL="90000" marR="90000" marT="46800" marB="4680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프로젝트 이름, 방 수, 생성일을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연필/휴지통 버튼으로 프로젝트 이름 변경 또는 삭제를 진행한다.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이 프로젝트에 방 추가는 RoomPlan 스캔을 시작한다.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방을 탭하면 3D 에디터를 열고, 길게 누르면 이름을 수정한다.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방은 왼쪽 스와이프 또는 메뉴에서 삭제하며 확인 절차를 거친다.</a:t>
                      </a:r>
                    </a:p>
                  </a:txBody>
                  <a:tcPr marL="91440" marR="91440" marT="45720" marB="4572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프로젝트 &gt; 프로젝트 상세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f6d3e81e2456c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공간 스캔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프로젝트팀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스캔 검토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</a:t>
                      </a: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SCAN-REVIEW-001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RoomPlan 스캔 결과를 확인하고 편집·공유·프로젝트 저장한다.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 lIns="90000" tIns="46800" rIns="90000" bIns="46800" anchor="t">
                      <a:noAutofit/>
                    </a:bodyPr>
                    <a:lstStyle/>
                    <a:p/>
                  </a:txBody>
                  <a:tcPr marL="90000" marR="90000" marT="46800" marB="4680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결과가 없으면 방 스캔 시작 버튼과 안내 상태를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완료 후 방 이름, 감지 요소 수, 촬영 사진 수를 확인한다.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다시 스캔으로 기존 결과를 교체할 수 있다.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3D로 편집하기는 객체 이동·수정·추가·삭제 화면을 연다.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USDZ/JSON 공유 또는 소속 프로젝트 서버 저장을 지원한다.</a:t>
                      </a:r>
                    </a:p>
                  </a:txBody>
                  <a:tcPr marL="91440" marR="91440" marT="45720" marB="4572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메인 탭 &gt; 스캔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eba1e626e4f79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3D 편집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프로젝트팀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공간 3D 에디터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</a:t>
                      </a: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EDITOR-ROOM-001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스캔 공간과 가구를 3D로 배치·수정하고 결과를 저장한다.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 lIns="90000" tIns="46800" rIns="90000" bIns="46800" anchor="t">
                      <a:noAutofit/>
                    </a:bodyPr>
                    <a:lstStyle/>
                    <a:p/>
                  </a:txBody>
                  <a:tcPr marL="90000" marR="90000" marT="46800" marB="4680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스카이뷰와 사람 뷰를 전환해 공간을 탐색한다.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선택 객체를 이동·회전·크기 조절하고 삭제 또는 교체한다.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벽/바닥 색상, 측정 도구와 사용법 안내를 제공한다.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실행 취소/다시 실행과 기기 임시 저장·복구를 지원한다.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저장 시 서버에 반영하며 오프라인 또는 미저장 종료를 경고한다.</a:t>
                      </a:r>
                    </a:p>
                  </a:txBody>
                  <a:tcPr marL="91440" marR="91440" marT="45720" marB="4572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프로젝트 상세 또는 스캔 검토 &gt; 3D 편집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7d7aea93c43bb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3D 편집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프로젝트팀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가구 카탈로그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</a:t>
                      </a: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EDITOR-FURNITURE-002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기본 및 사용자 제작 가구를 검색해 3D 공간에 추가한다.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 lIns="90000" tIns="46800" rIns="90000" bIns="46800" anchor="t">
                      <a:noAutofit/>
                    </a:bodyPr>
                    <a:lstStyle/>
                    <a:p/>
                  </a:txBody>
                  <a:tcPr marL="90000" marR="90000" marT="46800" marB="4680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가구 추가 버튼에서 하단 카탈로그 시트를 연다.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검색어와 전체/사용자 가구/카테고리 필터를 조합한다.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각 카드에 모델명과 실제 크기를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추가를 누르면 시트를 닫고 캔버스에서 배치 이동 상태로 전환한다.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Image-to-3D로 만든 내 가구도 동일한 카탈로그에서 사용한다.</a:t>
                      </a:r>
                    </a:p>
                  </a:txBody>
                  <a:tcPr marL="91440" marR="91440" marT="45720" marB="4572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공간 3D 에디터 &gt; 가구 추가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dabbd5a204c41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가구 생성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프로젝트팀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가구 사진 업로드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</a:t>
                      </a: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IMG3D-UPLOAD-001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사진 보관함 또는 카메라에서 가구 이미지를 선택한다.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 lIns="90000" tIns="46800" rIns="90000" bIns="46800" anchor="t">
                      <a:noAutofit/>
                    </a:bodyPr>
                    <a:lstStyle/>
                    <a:p/>
                  </a:txBody>
                  <a:tcPr marL="90000" marR="90000" marT="46800" marB="4680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6단계 진행 상태와 현재 단계 제목을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사진 보관함 또는 카메라에서 가구 사진 한 장을 선택한다.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JPG, PNG, HEIC 형식을 지원하며 HEIC는 PNG로 변환한다.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가구의 전체 형태가 보이는 사진 사용을 안내한다.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선택 및 권한 확인 후 다음 단계로 이동한다.</a:t>
                      </a:r>
                    </a:p>
                  </a:txBody>
                  <a:tcPr marL="91440" marR="91440" marT="45720" marB="4572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메인 탭 &gt; 가구 만들기 &gt; 1단계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0404200c446ea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가구 생성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프로젝트팀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3D 모델 보정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</a:t>
                      </a: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IMG3D-CORRECT-005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생성된 GLB 모델의 방향·위치·크기를 미리보기에서 보정한다.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 lIns="90000" tIns="46800" rIns="90000" bIns="46800" anchor="t">
                      <a:noAutofit/>
                    </a:bodyPr>
                    <a:lstStyle/>
                    <a:p/>
                  </a:txBody>
                  <a:tcPr marL="90000" marR="90000" marT="46800" marB="4680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생성된 GLB 모델을 3D 뷰포트에서 미리 본다.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자동 보정으로 기본 축 정렬과 바닥 스냅을 적용한다.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보기/이동/회전/크기 모드를 선택해 직접 조정한다.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한 손가락 회전, 두 손가락 확대와 시점 초기화를 지원한다.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이전 단계로 돌아가거나 보정값을 유지한 채 저장 단계로 이동한다.</a:t>
                      </a:r>
                    </a:p>
                  </a:txBody>
                  <a:tcPr marL="91440" marR="91440" marT="45720" marB="4572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가구 만들기 &gt; 5단계 모델 보정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03489fde34648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가구 생성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프로젝트팀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3D 모델 저장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</a:t>
                      </a: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IMG3D-SAVE-006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가구 이름과 카테고리를 지정해 생성 모델을 내 가구에 저장한다.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 lIns="90000" tIns="46800" rIns="90000" bIns="46800" anchor="t">
                      <a:noAutofit/>
                    </a:bodyPr>
                    <a:lstStyle/>
                    <a:p/>
                  </a:txBody>
                  <a:tcPr marL="90000" marR="90000" marT="46800" marB="4680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가구 이름을 입력하고 카테고리를 선택한다.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생성된 GLB 파일명과 파일 크기를 확인한다.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필수값이 준비되면 가구 목록에 추가 버튼이 활성화된다.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저장한 모델은 프로젝트 내 가구와 3D 에디터에서 즉시 사용한다.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저장 성공 후 프로젝트 목록 이동 또는 새 모델 생성을 제공한다.</a:t>
                      </a:r>
                    </a:p>
                  </a:txBody>
                  <a:tcPr marL="91440" marR="91440" marT="45720" marB="4572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가구 만들기 &gt; 6단계 저장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6f2c53fb34790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설정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프로젝트팀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설정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</a:t>
                      </a: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SETTINGS-MAIN-001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계정, 저장 공간, 법적 정보, 지원 및 앱 정보를 관리한다.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 lIns="90000" tIns="46800" rIns="90000" bIns="46800" anchor="t">
                      <a:noAutofit/>
                    </a:bodyPr>
                    <a:lstStyle/>
                    <a:p/>
                  </a:txBody>
                  <a:tcPr marL="90000" marR="90000" marT="46800" marB="4680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게스트는 로그인 진입, 회원은 프로필/로그아웃/탈퇴를 제공한다.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스캔 캐시 사용량을 표시하고 안전하게 비울 수 있다.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개인정보처리방침과 이용약관 링크를 연다.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문의 메일과 오픈소스 라이선스 고지를 제공한다.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앱 버전 정보를 표시하며 Debug 빌드는 개발자 설정을 숨겨 둔다.</a:t>
                      </a:r>
                    </a:p>
                  </a:txBody>
                  <a:tcPr marL="91440" marR="91440" marT="45720" marB="4572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메인 탭 &gt; 설정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f48a541a3471f"/>
          <a:stretch xmlns:a="http://schemas.openxmlformats.org/drawingml/2006/main"/>
        </p:blipFill>
        <p:spPr>
          <a:xfrm xmlns:a="http://schemas.openxmlformats.org/drawingml/2006/main">
            <a:off x="2621228" y="2935080"/>
            <a:ext cx="1754863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"/>
          <p:cNvGraphicFramePr/>
          <p:nvPr/>
        </p:nvGraphicFramePr>
        <p:xfrm>
          <a:off xmlns:a="http://schemas.openxmlformats.org/drawingml/2006/main" x="455400" y="660240"/>
          <a:ext xmlns:a="http://schemas.openxmlformats.org/drawingml/2006/main" cx="6058080" cy="903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5160"/>
                <a:gridCol w="182520"/>
                <a:gridCol w="2256120"/>
                <a:gridCol w="1008000"/>
                <a:gridCol w="1646280"/>
              </a:tblGrid>
              <a:tr h="423720">
                <a:tc gridSpan="5"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화면정의서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6856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iOS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2026.07.14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84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업무대기능명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설정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Spatium 프로젝트팀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664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프로필 설정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</a:t>
                      </a: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ID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SETTINGS-PROFILE-002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000">
                <a:tc gridSpan="2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화면설명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 lIns="36000" tIns="36000" rIns="36000" bIns="36000"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프로필 이미지와 닉네임을 수정하고 계정 현황을 확인한다.</a:t>
                      </a:r>
                    </a:p>
                  </a:txBody>
                  <a:tcPr marL="36000" marR="36000" marT="36000" marB="3600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0320">
                <a:tc gridSpan="5">
                  <a:txBody>
                    <a:bodyPr lIns="90000" tIns="46800" rIns="90000" bIns="46800" anchor="t">
                      <a:noAutofit/>
                    </a:bodyPr>
                    <a:lstStyle/>
                    <a:p/>
                  </a:txBody>
                  <a:tcPr marL="90000" marR="90000" marT="46800" marB="4680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2760">
                <a:tc>
                  <a:txBody>
                    <a:bodyPr anchor="ctr">
                      <a:no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구성요소</a:t>
                      </a: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설명</a:t>
                      </a:r>
                    </a:p>
                  </a:txBody>
                  <a:tcPr marL="91440" marR="91440" marT="45720" marB="45720" anchor="ctr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 anchor="t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1. 프로필 이미지를 카메라 또는 사진으로 변경한다.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2. 닉네임을 수정하며 이메일 계정은 읽기 전용으로 표시한다.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3. 보관 중인 프로젝트 수와 총 룸 개수를 확인한다.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4. 저장은 변경값을 사용자 프로필에 반영한다.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굴림체"/>
                          <a:ea typeface="굴림체"/>
                          <a:cs typeface="굴림체"/>
                        </a:rPr>
                        <a:t>5. 로그아웃을 선택하면 토큰을 정리하고 로그인 화면으로 돌아간다.</a:t>
                      </a:r>
                    </a:p>
                  </a:txBody>
                  <a:tcPr marL="91440" marR="91440" marT="45720" marB="45720" anchor="t">
                    <a:lnL w="4320">
                      <a:solidFill>
                        <a:srgbClr val="000000"/>
                      </a:solidFill>
                      <a:prstDash val="solid"/>
                    </a:lnL>
                    <a:lnR w="4320">
                      <a:solidFill>
                        <a:srgbClr val="000000"/>
                      </a:solidFill>
                      <a:prstDash val="solid"/>
                    </a:lnR>
                    <a:lnT w="4320">
                      <a:solidFill>
                        <a:srgbClr val="000000"/>
                      </a:solidFill>
                      <a:prstDash val="solid"/>
                    </a:lnT>
                    <a:lnB w="43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lstStyle/>
                    <a:p/>
                  </a:txBody>
                  <a:tcPr marL="90000" marR="90000" marT="45000" marB="45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BDE25-8A23-4928-8B46-B9B1333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60" y="2358720"/>
            <a:ext cx="5995800" cy="300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2520" tIns="46080" rIns="92520" bIns="4608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561"/>
              </a:spcBef>
              <a:buNone/>
            </a:pPr>
            <a:r>
              <a:rPr sz="900" b="0" u="none">
                <a:solidFill>
                  <a:srgbClr val="000000"/>
                </a:solidFill>
                <a:latin typeface="굴림체"/>
                <a:ea typeface="굴림체"/>
                <a:cs typeface="굴림체"/>
              </a:rPr>
              <a:t>설정 &gt; 계정 &gt; 프로필 설정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fc080ea624269"/>
          <a:stretch xmlns:a="http://schemas.openxmlformats.org/drawingml/2006/main"/>
        </p:blipFill>
        <p:spPr>
          <a:xfrm xmlns:a="http://schemas.openxmlformats.org/drawingml/2006/main">
            <a:off x="2621316" y="2935080"/>
            <a:ext cx="1754689" cy="3814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08294"/>
      </p:ext>
    </p:extLst>
  </p:cSld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2026-07-14T05:32:46.8180000Z</dcterms:created>
  <dcterms:modified xsi:type="dcterms:W3CDTF">2026-07-14T05:32:46.8180000Z</dcterms:modified>
</coreProperties>
</file>