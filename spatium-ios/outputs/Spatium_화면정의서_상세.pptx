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09146a74ab49c6" /><Relationship Type="http://schemas.openxmlformats.org/officeDocument/2006/relationships/extended-properties" Target="/docProps/app.xml" Id="Rfb551ed7dcce447d" /><Relationship Type="http://schemas.openxmlformats.org/officeDocument/2006/relationships/officeDocument" Target="/ppt/presentation.xml" Id="R079884f4fa8e46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c3226845144a9c"/>
  </p:sldMasterIdLst>
  <p:notesMasterIdLst>
    <p:notesMasterId xmlns:r="http://schemas.openxmlformats.org/officeDocument/2006/relationships" r:id="Ree7651b6375c42e5"/>
  </p:notesMasterIdLst>
  <p:sldIdLst>
    <p:sldId xmlns:r="http://schemas.openxmlformats.org/officeDocument/2006/relationships" id="256" r:id="Raf041ba371544fe7"/>
    <p:sldId xmlns:r="http://schemas.openxmlformats.org/officeDocument/2006/relationships" id="257" r:id="Re8d6a96e458f4b14"/>
    <p:sldId xmlns:r="http://schemas.openxmlformats.org/officeDocument/2006/relationships" id="258" r:id="R83aefafa84f24e3f"/>
    <p:sldId xmlns:r="http://schemas.openxmlformats.org/officeDocument/2006/relationships" id="259" r:id="R374e690d53014c96"/>
    <p:sldId xmlns:r="http://schemas.openxmlformats.org/officeDocument/2006/relationships" id="260" r:id="R3c296cc50dac4f0c"/>
    <p:sldId xmlns:r="http://schemas.openxmlformats.org/officeDocument/2006/relationships" id="261" r:id="R546af8141ad4415c"/>
    <p:sldId xmlns:r="http://schemas.openxmlformats.org/officeDocument/2006/relationships" id="262" r:id="Re2567308b33d4632"/>
    <p:sldId xmlns:r="http://schemas.openxmlformats.org/officeDocument/2006/relationships" id="263" r:id="R053e54737de44404"/>
    <p:sldId xmlns:r="http://schemas.openxmlformats.org/officeDocument/2006/relationships" id="264" r:id="R736e6287030f4723"/>
    <p:sldId xmlns:r="http://schemas.openxmlformats.org/officeDocument/2006/relationships" id="265" r:id="Rd2f1f5a29fbb4033"/>
    <p:sldId xmlns:r="http://schemas.openxmlformats.org/officeDocument/2006/relationships" id="266" r:id="Rbaafb7595f444f7b"/>
    <p:sldId xmlns:r="http://schemas.openxmlformats.org/officeDocument/2006/relationships" id="267" r:id="R39607369cf534981"/>
    <p:sldId xmlns:r="http://schemas.openxmlformats.org/officeDocument/2006/relationships" id="268" r:id="R6f4213a14120425c"/>
    <p:sldId xmlns:r="http://schemas.openxmlformats.org/officeDocument/2006/relationships" id="269" r:id="R4f974ad839eb4938"/>
  </p:sldIdLst>
  <p:sldSz cx="6854825" cy="990282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4df5c691574164" /><Relationship Type="http://schemas.openxmlformats.org/officeDocument/2006/relationships/slideMaster" Target="/ppt/slideMasters/slideMaster1.xml" Id="R8bc3226845144a9c" /><Relationship Type="http://schemas.openxmlformats.org/officeDocument/2006/relationships/notesMaster" Target="/ppt/notesMasters/notesMaster1.xml" Id="Ree7651b6375c42e5" /><Relationship Type="http://schemas.openxmlformats.org/officeDocument/2006/relationships/presProps" Target="/ppt/presProps.xml" Id="R075d759b92af409f" /><Relationship Type="http://schemas.openxmlformats.org/officeDocument/2006/relationships/viewProps" Target="/ppt/viewProps.xml" Id="Rda188ff253774cbb" /><Relationship Type="http://schemas.openxmlformats.org/officeDocument/2006/relationships/tableStyles" Target="/ppt/tableStyles.xml" Id="R51dc0df96a474773" /><Relationship Type="http://schemas.openxmlformats.org/officeDocument/2006/relationships/slide" Target="/ppt/slides/slide1.xml" Id="Raf041ba371544fe7" /><Relationship Type="http://schemas.openxmlformats.org/officeDocument/2006/relationships/slide" Target="/ppt/slides/slide2.xml" Id="Re8d6a96e458f4b14" /><Relationship Type="http://schemas.openxmlformats.org/officeDocument/2006/relationships/slide" Target="/ppt/slides/slide3.xml" Id="R83aefafa84f24e3f" /><Relationship Type="http://schemas.openxmlformats.org/officeDocument/2006/relationships/slide" Target="/ppt/slides/slide4.xml" Id="R374e690d53014c96" /><Relationship Type="http://schemas.openxmlformats.org/officeDocument/2006/relationships/slide" Target="/ppt/slides/slide5.xml" Id="R3c296cc50dac4f0c" /><Relationship Type="http://schemas.openxmlformats.org/officeDocument/2006/relationships/slide" Target="/ppt/slides/slide6.xml" Id="R546af8141ad4415c" /><Relationship Type="http://schemas.openxmlformats.org/officeDocument/2006/relationships/slide" Target="/ppt/slides/slide7.xml" Id="Re2567308b33d4632" /><Relationship Type="http://schemas.openxmlformats.org/officeDocument/2006/relationships/slide" Target="/ppt/slides/slide8.xml" Id="R053e54737de44404" /><Relationship Type="http://schemas.openxmlformats.org/officeDocument/2006/relationships/slide" Target="/ppt/slides/slide9.xml" Id="R736e6287030f4723" /><Relationship Type="http://schemas.openxmlformats.org/officeDocument/2006/relationships/slide" Target="/ppt/slides/slide10.xml" Id="Rd2f1f5a29fbb4033" /><Relationship Type="http://schemas.openxmlformats.org/officeDocument/2006/relationships/slide" Target="/ppt/slides/slide11.xml" Id="Rbaafb7595f444f7b" /><Relationship Type="http://schemas.openxmlformats.org/officeDocument/2006/relationships/slide" Target="/ppt/slides/slide12.xml" Id="R39607369cf534981" /><Relationship Type="http://schemas.openxmlformats.org/officeDocument/2006/relationships/slide" Target="/ppt/slides/slide13.xml" Id="R6f4213a14120425c" /><Relationship Type="http://schemas.openxmlformats.org/officeDocument/2006/relationships/slide" Target="/ppt/slides/slide14.xml" Id="R4f974ad839eb49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2b04c14f4d42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27c9a650e5449e" /><Relationship Type="http://schemas.openxmlformats.org/officeDocument/2006/relationships/notesMaster" Target="/ppt/notesMasters/notesMaster1.xml" Id="R76345b6012584a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f11fb519d74d6d" /><Relationship Type="http://schemas.openxmlformats.org/officeDocument/2006/relationships/notesMaster" Target="/ppt/notesMasters/notesMaster1.xml" Id="R4b1f7ff7dfde43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5521abc9964f46" /><Relationship Type="http://schemas.openxmlformats.org/officeDocument/2006/relationships/notesMaster" Target="/ppt/notesMasters/notesMaster1.xml" Id="R6fa76cee9a9045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54cfdade434d91" /><Relationship Type="http://schemas.openxmlformats.org/officeDocument/2006/relationships/notesMaster" Target="/ppt/notesMasters/notesMaster1.xml" Id="R75fd386a92ae47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83a36e64544368" /><Relationship Type="http://schemas.openxmlformats.org/officeDocument/2006/relationships/notesMaster" Target="/ppt/notesMasters/notesMaster1.xml" Id="Rac1265bf059f46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564124b4ac4ea6" /><Relationship Type="http://schemas.openxmlformats.org/officeDocument/2006/relationships/notesMaster" Target="/ppt/notesMasters/notesMaster1.xml" Id="R3f8047376a2d4a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ea3927bde04e3e" /><Relationship Type="http://schemas.openxmlformats.org/officeDocument/2006/relationships/notesMaster" Target="/ppt/notesMasters/notesMaster1.xml" Id="R4a379f390b0d47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ef9394b1584ab9" /><Relationship Type="http://schemas.openxmlformats.org/officeDocument/2006/relationships/notesMaster" Target="/ppt/notesMasters/notesMaster1.xml" Id="Re52a168e47c048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e33679aa7349fb" /><Relationship Type="http://schemas.openxmlformats.org/officeDocument/2006/relationships/notesMaster" Target="/ppt/notesMasters/notesMaster1.xml" Id="R2f312d3fb77948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4c235e75f649a7" /><Relationship Type="http://schemas.openxmlformats.org/officeDocument/2006/relationships/notesMaster" Target="/ppt/notesMasters/notesMaster1.xml" Id="Rac228142a0444c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995a9c18af4773" /><Relationship Type="http://schemas.openxmlformats.org/officeDocument/2006/relationships/notesMaster" Target="/ppt/notesMasters/notesMaster1.xml" Id="Rb852907fb80140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cc9adfa54d455a" /><Relationship Type="http://schemas.openxmlformats.org/officeDocument/2006/relationships/notesMaster" Target="/ppt/notesMasters/notesMaster1.xml" Id="R4397189acc9449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1e6cc355004895" /><Relationship Type="http://schemas.openxmlformats.org/officeDocument/2006/relationships/notesMaster" Target="/ppt/notesMasters/notesMaster1.xml" Id="R4162516b20c04e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45d843a6644d12" /><Relationship Type="http://schemas.openxmlformats.org/officeDocument/2006/relationships/notesMaster" Target="/ppt/notesMasters/notesMaster1.xml" Id="R69326fe8f8de42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fa6cdfe6524a6f" /></Relationships>
</file>

<file path=ppt/slideLayouts/slideLayout1.xml><?xml version="1.0" encoding="utf-8"?>
<p:sldLayout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B519BCF-C9FE-4078-84D8-89732F6097F9}"/>
              </a:ext>
            </a:extLst>
          </p:cNvPr>
          <p:cNvSpPr>
            <a:spLocks xmlns:a="http://schemas.openxmlformats.org/drawingml/2006/main" noGrp="1"/>
          </p:cNvSpPr>
          <p:nvPr>
            <p:ph type="ftr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Spatium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D32FF41-2F2B-464B-A335-14B9C71E1666}"/>
              </a:ext>
            </a:extLst>
          </p:cNvPr>
          <p:cNvSpPr>
            <a:spLocks xmlns:a="http://schemas.openxmlformats.org/drawingml/2006/main" noGrp="1"/>
          </p:cNvSpPr>
          <p:nvPr>
            <p:ph type="sldNum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7DD3460-7149-46BF-B360-4FD323FD52B8}" type="slidenum">
              <a:t>‹#›</a:t>
            </a:fld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F8E9235-B984-4B50-B1BC-1EDFA9343A5A}"/>
              </a:ext>
            </a:extLst>
          </p:cNvPr>
          <p:cNvSpPr>
            <a:spLocks xmlns:a="http://schemas.openxmlformats.org/drawingml/2006/main" noGrp="1"/>
          </p:cNvSpPr>
          <p:nvPr>
            <p:ph type="dt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73eeef693841f8" /><Relationship Type="http://schemas.openxmlformats.org/officeDocument/2006/relationships/slideLayout" Target="/ppt/slideLayouts/slideLayout1.xml" Id="Rc5be96e4d0054c6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3B82254-5E6A-447B-8C56-9F923A95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0" y="341280"/>
            <a:ext cx="61736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화면정의서</a:t>
            </a:r>
          </a:p>
        </p:txBody>
      </p:sp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AD63648-6932-4973-87A0-305FBC8909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1280" y="395280"/>
            <a:ext cx="6170400" cy="1650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lnSpc>
                <a:spcPct val="110000"/>
              </a:lnSpc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lnSpc>
                <a:spcPct val="110000"/>
              </a:lnSpc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84990ED-E3C3-4ADC-82E5-8443DD3A70AE}"/>
              </a:ext>
            </a:extLst>
          </p:cNvPr>
          <p:cNvSpPr>
            <a:spLocks xmlns:a="http://schemas.openxmlformats.org/drawingml/2006/main" noGrp="1"/>
          </p:cNvSpPr>
          <p:nvPr>
            <p:ph type="dt" idx="1"/>
          </p:nvPr>
        </p:nvSpPr>
        <p:spPr>
          <a:xfrm xmlns:a="http://schemas.openxmlformats.org/drawingml/2006/main">
            <a:off x="340920" y="9177120"/>
            <a:ext cx="1600200" cy="52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>
            <a:lvl1pPr indent="0" algn="l">
              <a:spcBef>
                <a:spcPts val="451"/>
              </a:spcBef>
              <a:buNone/>
              <a:defRPr sz="1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l">
              <a:spcBef>
                <a:spcPts val="451"/>
              </a:spcBef>
              <a:buNone/>
            </a:pPr>
            <a:r>
              <a:rPr sz="1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046551B4-2F63-47E5-8445-2625101E7D8A}"/>
              </a:ext>
            </a:extLst>
          </p:cNvPr>
          <p:cNvSpPr>
            <a:spLocks xmlns:a="http://schemas.openxmlformats.org/drawingml/2006/main" noGrp="1"/>
          </p:cNvSpPr>
          <p:nvPr>
            <p:ph type="ftr" idx="2"/>
          </p:nvPr>
        </p:nvSpPr>
        <p:spPr>
          <a:xfrm xmlns:a="http://schemas.openxmlformats.org/drawingml/2006/main">
            <a:off x="2341440" y="9177120"/>
            <a:ext cx="2171520" cy="52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>
            <a:lvl1pPr indent="0" algn="l">
              <a:spcBef>
                <a:spcPts val="451"/>
              </a:spcBef>
              <a:buNone/>
              <a:defRPr sz="1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l">
              <a:spcBef>
                <a:spcPts val="451"/>
              </a:spcBef>
              <a:buNone/>
            </a:pPr>
            <a:r>
              <a:rPr sz="1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Spatium</a:t>
            </a:r>
          </a:p>
        </p:txBody>
      </p:sp>
      <p:sp>
        <p:nvSpPr>
          <p:cNvPr id="6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118A326A-40A7-46B8-A6F1-8D56C5C3F041}"/>
              </a:ext>
            </a:extLst>
          </p:cNvPr>
          <p:cNvSpPr>
            <a:spLocks xmlns:a="http://schemas.openxmlformats.org/drawingml/2006/main" noGrp="1"/>
          </p:cNvSpPr>
          <p:nvPr>
            <p:ph type="sldNum" idx="3"/>
          </p:nvPr>
        </p:nvSpPr>
        <p:spPr>
          <a:xfrm xmlns:a="http://schemas.openxmlformats.org/drawingml/2006/main">
            <a:off x="4913280" y="9177120"/>
            <a:ext cx="1598400" cy="52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>
            <a:lvl1pPr indent="0" algn="l">
              <a:spcBef>
                <a:spcPts val="451"/>
              </a:spcBef>
              <a:buNone/>
              <a:defRPr sz="1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l">
              <a:spcBef>
                <a:spcPts val="451"/>
              </a:spcBef>
              <a:buNone/>
            </a:pPr>
            <a:fld id="{D7EAE7A5-583F-4B8C-949D-1D86C73A38D7}" type="slidenum">
              <a:rPr sz="1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be96e4d0054c66"/>
  </p:sldLayoutIdLst>
  <p:txStyles>
    <p:titleStyle>
      <a:lvl1pPr xmlns:a="http://schemas.openxmlformats.org/drawingml/2006/main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63927d6ce4c95" /><Relationship Type="http://schemas.openxmlformats.org/officeDocument/2006/relationships/image" Target="/ppt/media/image.jpeg" Id="R688e10cc1d394417" /><Relationship Type="http://schemas.openxmlformats.org/officeDocument/2006/relationships/notesSlide" Target="/ppt/notesSlides/notesSlide1.xml" Id="R3d3dd16ffc124e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c0db59f594f04" /><Relationship Type="http://schemas.openxmlformats.org/officeDocument/2006/relationships/image" Target="/ppt/media/image2.jpeg" Id="Re31e7803af164e84" /><Relationship Type="http://schemas.openxmlformats.org/officeDocument/2006/relationships/notesSlide" Target="/ppt/notesSlides/notesSlide2.xml" Id="Rc3406af8a7284b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c496551154f8d" /><Relationship Type="http://schemas.openxmlformats.org/officeDocument/2006/relationships/image" Target="/ppt/media/image3.jpeg" Id="R54936e29e0254256" /><Relationship Type="http://schemas.openxmlformats.org/officeDocument/2006/relationships/notesSlide" Target="/ppt/notesSlides/notesSlide3.xml" Id="Rbfa0f44cce6c4f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35cec6c434fd5" /><Relationship Type="http://schemas.openxmlformats.org/officeDocument/2006/relationships/image" Target="/ppt/media/image4.jpeg" Id="R49c005b2243148b3" /><Relationship Type="http://schemas.openxmlformats.org/officeDocument/2006/relationships/notesSlide" Target="/ppt/notesSlides/notesSlide4.xml" Id="R849f49bc218347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ea5ed5e814ae9" /><Relationship Type="http://schemas.openxmlformats.org/officeDocument/2006/relationships/image" Target="/ppt/media/image.png" Id="Rc7a89a6e17694ac7" /><Relationship Type="http://schemas.openxmlformats.org/officeDocument/2006/relationships/notesSlide" Target="/ppt/notesSlides/notesSlide5.xml" Id="R0936317348db4f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77e98331d4e12" /><Relationship Type="http://schemas.openxmlformats.org/officeDocument/2006/relationships/image" Target="/ppt/media/image5.jpeg" Id="R640f322535024cad" /><Relationship Type="http://schemas.openxmlformats.org/officeDocument/2006/relationships/notesSlide" Target="/ppt/notesSlides/notesSlide6.xml" Id="R7e68e59a877d41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f8173707442d4" /><Relationship Type="http://schemas.openxmlformats.org/officeDocument/2006/relationships/image" Target="/ppt/media/image6.jpeg" Id="R8a3729345ffb47e5" /><Relationship Type="http://schemas.openxmlformats.org/officeDocument/2006/relationships/notesSlide" Target="/ppt/notesSlides/notesSlide7.xml" Id="Rbc08e7bfbe1f41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036f554bf4721" /><Relationship Type="http://schemas.openxmlformats.org/officeDocument/2006/relationships/image" Target="/ppt/media/image7.jpeg" Id="R1432ebc09d444416" /><Relationship Type="http://schemas.openxmlformats.org/officeDocument/2006/relationships/notesSlide" Target="/ppt/notesSlides/notesSlide8.xml" Id="Re8a662f774ca42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1b28a106e4fa8" /><Relationship Type="http://schemas.openxmlformats.org/officeDocument/2006/relationships/image" Target="/ppt/media/image8.jpeg" Id="Raf381bc7abed4cd7" /><Relationship Type="http://schemas.openxmlformats.org/officeDocument/2006/relationships/notesSlide" Target="/ppt/notesSlides/notesSlide9.xml" Id="R7955a041a1cf40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f260b7aec44f5" /><Relationship Type="http://schemas.openxmlformats.org/officeDocument/2006/relationships/image" Target="/ppt/media/image9.jpeg" Id="R84e79d7acd4645ee" /><Relationship Type="http://schemas.openxmlformats.org/officeDocument/2006/relationships/notesSlide" Target="/ppt/notesSlides/notesSlide10.xml" Id="R6dc8b5f075054f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235d107e4494a" /><Relationship Type="http://schemas.openxmlformats.org/officeDocument/2006/relationships/image" Target="/ppt/media/image10.jpeg" Id="R69be7c5b20484294" /><Relationship Type="http://schemas.openxmlformats.org/officeDocument/2006/relationships/notesSlide" Target="/ppt/notesSlides/notesSlide11.xml" Id="R01984702bf894e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4116d1b9146f1" /><Relationship Type="http://schemas.openxmlformats.org/officeDocument/2006/relationships/image" Target="/ppt/media/image11.jpeg" Id="Rcc6f70e10ac74dcb" /><Relationship Type="http://schemas.openxmlformats.org/officeDocument/2006/relationships/notesSlide" Target="/ppt/notesSlides/notesSlide12.xml" Id="R7cda782dd29e4e2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ca584e8dd4ad0" /><Relationship Type="http://schemas.openxmlformats.org/officeDocument/2006/relationships/image" Target="/ppt/media/image12.jpeg" Id="Raff0f581c4574218" /><Relationship Type="http://schemas.openxmlformats.org/officeDocument/2006/relationships/notesSlide" Target="/ppt/notesSlides/notesSlide13.xml" Id="R00be929e12c04b6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32bb498044b92" /><Relationship Type="http://schemas.openxmlformats.org/officeDocument/2006/relationships/image" Target="/ppt/media/image2.png" Id="R39ae11b7bd2143fd" /><Relationship Type="http://schemas.openxmlformats.org/officeDocument/2006/relationships/notesSlide" Target="/ppt/notesSlides/notesSlide14.xml" Id="R61131582f1b44e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1" name="표 14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</a:t>
                      </a: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인증</a:t>
                      </a: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/</a:t>
                      </a: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계정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류동하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로그인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AUTH-LOGIN-001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이메일 또는 소셜 계정으로 로그인하고 게스트 진입을 제공한다.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/>
                    <a:lstStyle/>
                    <a:p/>
                  </a:txBody>
                  <a:tcPr marL="90000" marR="90000" marT="46800" marB="4680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이메일 입력: 앞뒤 공백을 제거하고 이메일 형식이 유효한지 확인한다.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비밀번호 입력: 보안 문자로 표시하며 이메일과 함께 입력되어야 로그인할 수 있다.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로그인 버튼: 필수값 입력 시 활성화되고 요청 중에는 로딩 표시와 중복 입력을 차단한다.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인증 오류 안내: 계정 정보 불일치나 통신 실패 시 원인을 화면 내 메시지로 표시한다.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Apple 로그인: Apple 인증 완료 후 사용자 토큰을 저장하고 메인 화면으로 이동한다.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6. Google 로그인: Google 인증 결과를 앱 계정과 연결하고 동일한 로그인 흐름을 수행한다.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7. 회원가입/계정 찾기: 신규 가입 또는 계정 복구 화면으로 이동할 수 있다.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8. 게스트 둘러보기: 로컬 게스트 세션을 만들며 기존 게스트 데이터 소실 가능성을 안내한다.</a:t>
                      </a:r>
                    </a:p>
                  </a:txBody>
                  <a:tcPr marL="91440" marR="91440" marT="45720" marB="4572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앱 시작 &gt; 로그인</a:t>
            </a:r>
          </a:p>
        </p:txBody>
      </p:sp>
      <p:pic>
        <p:nvPicPr>
          <p:cNvPr id="13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e10cc1d394417"/>
          <a:stretch xmlns:a="http://schemas.openxmlformats.org/drawingml/2006/main"/>
        </p:blipFill>
        <p:spPr>
          <a:xfrm xmlns:a="http://schemas.openxmlformats.org/drawingml/2006/main">
            <a:off x="2621228" y="2935080"/>
            <a:ext cx="1754863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1" name="표 14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인증/계정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류동하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회원가입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AUTH-SIGNUP-002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필수 사용자 정보와 약관 동의를 받아 신규 계정을 생성한다.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/>
                    <a:lstStyle/>
                    <a:p/>
                  </a:txBody>
                  <a:tcPr marL="90000" marR="90000" marT="46800" marB="4680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이메일 입력: 이메일 키보드를 사용하며 공백 제거 후 형식과 중복 여부를 확인한다.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닉네임 입력: 필수값으로 관리하고 허용 길이·문자 조건을 만족하는지 검사한다.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비밀번호 입력: 8자 이상이며 영문과 숫자를 포함해야 하고 보안 문자로 표시한다.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생년월일/성별 선택: 날짜 선택기와 선택 버튼으로 사용자 기본 정보를 입력한다.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약관 동의: 이용약관과 개인정보 수집·이용 동의를 개별 확인하고 전문을 열 수 있다.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6. 회원가입 버튼: 모든 필수값과 필수 동의가 완료된 경우에만 활성화된다.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7. 가입 처리 상태: 요청 중 중복 제출을 막고 입력 오류·중복 계정·통신 오류를 구분해 표시한다.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8. 가입 완료/취소: 성공 시 이메일을 로그인 화면에 전달하고 취소 시 입력값을 버리고 돌아간다.</a:t>
                      </a:r>
                    </a:p>
                  </a:txBody>
                  <a:tcPr marL="91440" marR="91440" marT="45720" marB="4572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로그인 &gt; 회원가입</a:t>
            </a:r>
          </a:p>
        </p:txBody>
      </p:sp>
      <p:pic>
        <p:nvPicPr>
          <p:cNvPr id="13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e7803af164e84"/>
          <a:stretch xmlns:a="http://schemas.openxmlformats.org/drawingml/2006/main"/>
        </p:blipFill>
        <p:spPr>
          <a:xfrm xmlns:a="http://schemas.openxmlformats.org/drawingml/2006/main">
            <a:off x="2621228" y="2935080"/>
            <a:ext cx="1754863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1" name="표 14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메인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류동하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홈 대시보드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HOME-DASH-001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스캔 시작, 프로젝트 현황, 최근 기록과 스캔 가이드를 제공한다.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/>
                    <a:lstStyle/>
                    <a:p/>
                  </a:txBody>
                  <a:tcPr marL="90000" marR="90000" marT="46800" marB="4680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사용자 영역: 게스트 여부 또는 로그인 사용자 정보를 표시하고 계정 진입 동작을 제공한다.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새 프로젝트 만들기: 프로젝트 생성 후 RoomPlan 공간 스캔을 시작하는 핵심 버튼이다.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진행 현황 카드: 진행 중인 프로젝트 수와 스캔 완료 방 수를 최신 데이터로 집계한다.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최근 프로젝트: 최근 수정 순으로 표시하며 선택 시 해당 프로젝트 상세 화면을 연다.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스캔 가이드: 조명, 이동 속도, 장애물 정리 등 촬영 전 확인 사항을 카드로 제공한다.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6. 새로고침 상태: 당겨서 새로고침 시 프로젝트와 통계 데이터를 다시 불러오고 로딩을 표시한다.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7. 빈 화면/오류 상태: 데이터가 없거나 조회에 실패하면 안내 문구와 재시도 동작을 제공한다.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8. 하단 탭 바: 홈·프로젝트·스캔·가구 만들기·설정의 최상위 화면을 전환한다.</a:t>
                      </a:r>
                    </a:p>
                  </a:txBody>
                  <a:tcPr marL="91440" marR="91440" marT="45720" marB="4572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메인 탭 &gt; 홈</a:t>
            </a:r>
          </a:p>
        </p:txBody>
      </p:sp>
      <p:pic>
        <p:nvPicPr>
          <p:cNvPr id="13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36e29e0254256"/>
          <a:stretch xmlns:a="http://schemas.openxmlformats.org/drawingml/2006/main"/>
        </p:blipFill>
        <p:spPr>
          <a:xfrm xmlns:a="http://schemas.openxmlformats.org/drawingml/2006/main">
            <a:off x="2621228" y="2935080"/>
            <a:ext cx="1754863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1" name="표 14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프로젝트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류동하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프로젝트 목록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PROJECT-LIST-001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프로젝트와 사용자가 만든 가구를 한곳에서 조회·관리한다.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/>
                    <a:lstStyle/>
                    <a:p/>
                  </a:txBody>
                  <a:tcPr marL="90000" marR="90000" marT="46800" marB="4680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프로젝트 요약: 전체 프로젝트 수, 포함된 방 수, 최근 수정 시각을 상단에 표시한다.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새 프로젝트 버튼: 프로젝트 이름 입력 화면을 열고 생성 후 스캔 흐름으로 연결한다.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프로젝트 카드: 이름·방 개수·수정 정보를 표시하며 탭하면 상세 화면으로 이동한다.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프로젝트 목록 상태: 최신 수정 순으로 정렬하고 로딩·빈 목록·조회 실패 상태를 구분한다.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내 가구 목록: Image-to-3D에서 저장한 모델의 이름, 카테고리, 미리보기를 표시한다.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6. 가구 삭제: 삭제 전 확인창을 표시하고 완료 후 목록과 3D 에디터 데이터를 갱신한다.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7. 저장 방식: 로그인 사용자는 서버와 동기화하고 게스트는 기기 로컬 저장소를 사용한다.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8. 새로고침/동기화 오류: 재조회 중 진행 상태를 표시하고 실패 시 기존 데이터를 유지한다.</a:t>
                      </a:r>
                    </a:p>
                  </a:txBody>
                  <a:tcPr marL="91440" marR="91440" marT="45720" marB="4572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메인 탭 &gt; 프로젝트</a:t>
            </a:r>
          </a:p>
        </p:txBody>
      </p:sp>
      <p:pic>
        <p:nvPicPr>
          <p:cNvPr id="13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005b2243148b3"/>
          <a:stretch xmlns:a="http://schemas.openxmlformats.org/drawingml/2006/main"/>
        </p:blipFill>
        <p:spPr>
          <a:xfrm xmlns:a="http://schemas.openxmlformats.org/drawingml/2006/main">
            <a:off x="2621228" y="2935080"/>
            <a:ext cx="1754863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1" name="표 14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프로젝트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류동하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새 프로젝트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PROJECT-CREATE-002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프로젝트 이름을 입력해 새 프로젝트를 만들고 스캔을 시작한다.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/>
                    <a:lstStyle/>
                    <a:p/>
                  </a:txBody>
                  <a:tcPr marL="90000" marR="90000" marT="46800" marB="4680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닫기/뒤로가기: 생성하지 않고 이전 화면으로 돌아가며 입력 중이면 취소 여부를 확인한다.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프로젝트 이름 입력: 앞뒤 공백을 제거하고 빈 문자열은 유효한 이름으로 처리하지 않는다.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입력 안내: 프로젝트를 구분하기 쉬운 이름을 입력하도록 예시와 보조 문구를 제공한다.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생성 버튼 활성 조건: 정리된 프로젝트 이름이 한 글자 이상일 때만 활성화된다.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생성 요청 상태: 저장 중에는 입력·닫기·중복 제출을 막고 진행 상태를 표시한다.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6. 저장 위치: 회원은 서버 프로젝트로 생성하고 게스트는 로컬 프로젝트로 생성한다.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7. 생성 완료: 새 프로젝트를 현재 프로젝트로 지정한 뒤 RoomPlan 스캔 화면을 연다.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8. 생성 실패: 네트워크나 저장 오류를 안내하고 입력한 이름을 유지한 채 재시도할 수 있다.</a:t>
                      </a:r>
                    </a:p>
                  </a:txBody>
                  <a:tcPr marL="91440" marR="91440" marT="45720" marB="4572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프로젝트 &gt; 새 프로젝트</a:t>
            </a:r>
          </a:p>
        </p:txBody>
      </p:sp>
      <p:pic>
        <p:nvPicPr>
          <p:cNvPr id="13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89a6e17694ac7"/>
          <a:stretch xmlns:a="http://schemas.openxmlformats.org/drawingml/2006/main"/>
        </p:blipFill>
        <p:spPr>
          <a:xfrm xmlns:a="http://schemas.openxmlformats.org/drawingml/2006/main">
            <a:off x="2621316" y="2935080"/>
            <a:ext cx="1754689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1" name="표 14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프로젝트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류동하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프로젝트 상세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PROJECT-DETAIL-003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프로젝트 정보와 포함된 방을 조회하고 이름 변경·삭제·추가한다.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/>
                    <a:lstStyle/>
                    <a:p/>
                  </a:txBody>
                  <a:tcPr marL="90000" marR="90000" marT="46800" marB="4680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상단 프로젝트 정보: 프로젝트 이름, 전체 방 수, 생성일 또는 최근 수정 정보를 표시한다.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이름 수정 버튼: 현재 이름을 채운 입력창을 열고 유효한 새 이름만 저장한다.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프로젝트 삭제 버튼: 확인 절차 후 프로젝트와 포함된 방 데이터를 삭제하고 목록으로 이동한다.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방 추가 버튼: 현재 프로젝트를 대상 프로젝트로 지정하고 RoomPlan 스캔을 시작한다.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방 목록: 방 이름·스캔 정보·미리보기를 표시하고 빈 경우 스캔 시작 안내를 제공한다.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6. 방 선택: 항목을 탭하면 해당 방의 저장된 3D 데이터로 공간 에디터를 연다.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7. 방 이름 변경/삭제: 길게 누르기 또는 스와이프로 실행하며 삭제 전 확인창을 표시한다.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8. 동기화 상태: 수정 후 목록과 통계를 갱신하고 실패 시 변경 전 데이터와 재시도 안내를 유지한다.</a:t>
                      </a:r>
                    </a:p>
                  </a:txBody>
                  <a:tcPr marL="91440" marR="91440" marT="45720" marB="4572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프로젝트 &gt; 프로젝트 상세</a:t>
            </a:r>
          </a:p>
        </p:txBody>
      </p:sp>
      <p:pic>
        <p:nvPicPr>
          <p:cNvPr id="13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f322535024cad"/>
          <a:stretch xmlns:a="http://schemas.openxmlformats.org/drawingml/2006/main"/>
        </p:blipFill>
        <p:spPr>
          <a:xfrm xmlns:a="http://schemas.openxmlformats.org/drawingml/2006/main">
            <a:off x="2621228" y="2935080"/>
            <a:ext cx="1754863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1" name="표 14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공간 스캔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류동하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스캔 검토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SCAN-REVIEW-001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RoomPlan 스캔 결과를 확인하고 편집·공유·프로젝트 저장한다.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/>
                    <a:lstStyle/>
                    <a:p/>
                  </a:txBody>
                  <a:tcPr marL="90000" marR="90000" marT="46800" marB="4680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미스캔 상태: 저장된 스캔 결과가 없으면 안내 문구와 방 스캔 시작 버튼을 표시한다.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스캔 시작: 카메라·RoomPlan 권한과 지원 기기를 확인한 뒤 공간 캡처 화면을 연다.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결과 요약: 완료된 방 이름, 감지된 벽·문·창·가구 수, 촬영 사진 수를 표시한다.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다시 스캔: 기존 결과 교체 여부를 확인하고 새 RoomPlan 세션을 시작한다.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3D 편집하기: 스캔 결과를 공간 에디터로 전달해 객체 이동·수정·추가·삭제를 수행한다.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6. 프로젝트 저장: 대상 프로젝트와 방 이름을 선택하고 변환된 공간 데이터를 저장한다.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7. 공유 기능: 스캔 결과를 USDZ 또는 JSON 파일로 생성해 시스템 공유 시트를 연다.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8. 처리 오류: 변환·저장·공유 실패 시 기존 결과를 유지하고 오류 메시지와 재시도를 제공한다.</a:t>
                      </a:r>
                    </a:p>
                  </a:txBody>
                  <a:tcPr marL="91440" marR="91440" marT="45720" marB="4572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메인 탭 &gt; 스캔</a:t>
            </a:r>
          </a:p>
        </p:txBody>
      </p:sp>
      <p:pic>
        <p:nvPicPr>
          <p:cNvPr id="13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3729345ffb47e5"/>
          <a:stretch xmlns:a="http://schemas.openxmlformats.org/drawingml/2006/main"/>
        </p:blipFill>
        <p:spPr>
          <a:xfrm xmlns:a="http://schemas.openxmlformats.org/drawingml/2006/main">
            <a:off x="2621228" y="2935080"/>
            <a:ext cx="1754863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1" name="표 14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3D 편집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류동하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공간 3D 에디터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EDITOR-ROOM-001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스캔 공간과 가구를 3D로 배치·수정하고 결과를 저장한다.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/>
                    <a:lstStyle/>
                    <a:p/>
                  </a:txBody>
                  <a:tcPr marL="90000" marR="90000" marT="46800" marB="4680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뷰 모드: 스카이뷰와 사람 시점을 전환하고 선택한 시점에 맞는 카메라 위치를 적용한다.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카메라 조작: 드래그·확대·축소 제스처로 공간을 회전하고 원하는 위치를 탐색한다.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객체 선택: 벽·바닥·가구를 탭하면 선택 표시와 사용 가능한 편집 도구를 활성화한다.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변형 도구: 선택 객체의 이동·회전·크기를 조절하며 허용 범위 안에서 값을 반영한다.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속성 편집: 벽·바닥 색상 변경, 객체 삭제·교체, 측정 도구와 사용법 안내를 제공한다.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6. 가구 추가: 카탈로그에서 선택한 가구를 공간 중앙에 배치하고 즉시 이동 상태로 전환한다.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7. 편집 이력: 실행 취소·다시 실행과 기기 임시 저장을 지원해 작업 중 상태를 복구한다.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8. 저장/종료: 변경값을 서버 또는 로컬에 저장하며 미저장 종료와 오프라인 상태를 경고한다.</a:t>
                      </a:r>
                    </a:p>
                  </a:txBody>
                  <a:tcPr marL="91440" marR="91440" marT="45720" marB="4572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프로젝트 상세 또는 스캔 검토 &gt; 3D 편집</a:t>
            </a:r>
          </a:p>
        </p:txBody>
      </p:sp>
      <p:pic>
        <p:nvPicPr>
          <p:cNvPr id="13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2ebc09d444416"/>
          <a:stretch xmlns:a="http://schemas.openxmlformats.org/drawingml/2006/main"/>
        </p:blipFill>
        <p:spPr>
          <a:xfrm xmlns:a="http://schemas.openxmlformats.org/drawingml/2006/main">
            <a:off x="2621228" y="2935080"/>
            <a:ext cx="1754863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1" name="표 14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3D 편집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류동하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가구 카탈로그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EDITOR-FURNITURE-002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기본 및 사용자 제작 가구를 검색해 3D 공간에 추가한다.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/>
                    <a:lstStyle/>
                    <a:p/>
                  </a:txBody>
                  <a:tcPr marL="90000" marR="90000" marT="46800" marB="4680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카탈로그 시트: 에디터의 가구 추가 버튼에서 열며 닫아도 기존 공간 편집 상태를 유지한다.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검색 입력: 모델명 검색어를 입력하면 현재 필터 조건 안에서 결과를 즉시 좁힌다.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분류 필터: 전체·사용자 가구·카테고리를 조합하고 선택된 필터를 시각적으로 표시한다.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가구 카드: 미리보기, 모델명, 카테고리, 실제 너비·높이·깊이 정보를 표시한다.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가구 추가 버튼: 모델 로드 가능 여부를 확인한 뒤 시트를 닫고 공간 중앙에 배치한다.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6. 사용자 제작 가구: Image-to-3D로 저장한 GLB 모델도 기본 가구와 동일하게 조회·배치한다.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7. 목록 상태: 모델을 불러오는 동안 로딩을 표시하고 결과 없음·로드 실패·재시도를 구분한다.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8. 선택 완료: 배치된 객체를 자동 선택해 이동·회전·크기 조절을 바로 수행할 수 있게 한다.</a:t>
                      </a:r>
                    </a:p>
                  </a:txBody>
                  <a:tcPr marL="91440" marR="91440" marT="45720" marB="4572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공간 3D 에디터 &gt; 가구 추가</a:t>
            </a:r>
          </a:p>
        </p:txBody>
      </p:sp>
      <p:pic>
        <p:nvPicPr>
          <p:cNvPr id="13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81bc7abed4cd7"/>
          <a:stretch xmlns:a="http://schemas.openxmlformats.org/drawingml/2006/main"/>
        </p:blipFill>
        <p:spPr>
          <a:xfrm xmlns:a="http://schemas.openxmlformats.org/drawingml/2006/main">
            <a:off x="2621228" y="2935080"/>
            <a:ext cx="1754863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1" name="표 14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가구 생성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류동하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가구 사진 업로드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IMG3D-UPLOAD-001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사진 보관함 또는 카메라에서 가구 이미지를 선택한다.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/>
                    <a:lstStyle/>
                    <a:p/>
                  </a:txBody>
                  <a:tcPr marL="90000" marR="90000" marT="46800" marB="4680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단계 표시: 전체 6단계 중 현재 1단계와 완료·예정 단계를 상단 진행 표시줄에 나타낸다.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사진 보관함 버튼: 사진 접근 권한을 확인하고 한 장의 가구 이미지를 선택한다.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카메라 버튼: 카메라 권한을 확인한 뒤 촬영 화면을 열고 촬영 결과를 입력 이미지로 사용한다.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지원 형식: JPG·PNG·HEIC를 허용하며 HEIC 파일은 후속 처리를 위해 PNG로 변환한다.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이미지 미리보기: 선택한 사진을 표시하고 다른 사진으로 교체하거나 선택을 취소할 수 있다.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6. 촬영 가이드: 가구 전체가 보이고 배경과 분리된 선명한 사진을 사용하도록 안내한다.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7. 다음 버튼: 이미지 선택과 파일 검증이 완료된 경우에만 활성화되어 다음 단계로 이동한다.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8. 오류 처리: 권한 거부·지원하지 않는 형식·읽기 실패 시 안내와 설정 이동 또는 재선택을 제공한다.</a:t>
                      </a:r>
                    </a:p>
                  </a:txBody>
                  <a:tcPr marL="91440" marR="91440" marT="45720" marB="4572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메인 탭 &gt; 가구 만들기 &gt; 1단계</a:t>
            </a:r>
          </a:p>
        </p:txBody>
      </p:sp>
      <p:pic>
        <p:nvPicPr>
          <p:cNvPr id="13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79d7acd4645ee"/>
          <a:stretch xmlns:a="http://schemas.openxmlformats.org/drawingml/2006/main"/>
        </p:blipFill>
        <p:spPr>
          <a:xfrm xmlns:a="http://schemas.openxmlformats.org/drawingml/2006/main">
            <a:off x="2621228" y="2935080"/>
            <a:ext cx="1754863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1" name="표 14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가구 생성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류동하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3D 모델 보정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IMG3D-CORRECT-005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생성된 GLB 모델의 방향·위치·크기를 미리보기에서 보정한다.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/>
                    <a:lstStyle/>
                    <a:p/>
                  </a:txBody>
                  <a:tcPr marL="90000" marR="90000" marT="46800" marB="4680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모델 미리보기: 생성된 GLB를 불러오는 동안 로딩을 표시하고 완료 후 3D 뷰포트에 렌더링한다.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카메라 제스처: 한 손가락 회전과 두 손가락 확대·축소로 모델의 모든 방향을 확인한다.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편집 모드: 보기·이동·회전·크기 모드를 선택하고 현재 모드를 강조 표시한다.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자동 보정: 모델의 기본 축과 앞면 방향을 정렬하고 바닥 기준 위치로 자동 이동한다.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수동 보정: 선택한 축의 위치·회전·배율을 조절해 실제 배치에 적합한 형태로 수정한다.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6. 시점/보정 초기화: 카메라 시점 또는 보정값을 기본 상태로 되돌릴 수 있다.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7. 이전/다음 버튼: 이전 단계로 돌아가거나 현재 보정값을 유지한 채 저장 단계로 이동한다.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8. 모델 오류: GLB 로드·렌더링 실패 시 오류를 표시하고 다시 불러오기 또는 이전 단계를 제공한다.</a:t>
                      </a:r>
                    </a:p>
                  </a:txBody>
                  <a:tcPr marL="91440" marR="91440" marT="45720" marB="4572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가구 만들기 &gt; 5단계 모델 보정</a:t>
            </a:r>
          </a:p>
        </p:txBody>
      </p:sp>
      <p:pic>
        <p:nvPicPr>
          <p:cNvPr id="13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e7c5b20484294"/>
          <a:stretch xmlns:a="http://schemas.openxmlformats.org/drawingml/2006/main"/>
        </p:blipFill>
        <p:spPr>
          <a:xfrm xmlns:a="http://schemas.openxmlformats.org/drawingml/2006/main">
            <a:off x="2621228" y="2935080"/>
            <a:ext cx="1754863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1" name="표 14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가구 생성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류동하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3D 모델 저장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IMG3D-SAVE-006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가구 이름과 카테고리를 지정해 생성 모델을 내 가구에 저장한다.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/>
                    <a:lstStyle/>
                    <a:p/>
                  </a:txBody>
                  <a:tcPr marL="90000" marR="90000" marT="46800" marB="4680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가구 이름 입력: 내 가구와 카탈로그에서 식별할 이름을 필수값으로 입력한다.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카테고리 선택: 의자·테이블·수납 등 지정된 분류 중 하나를 선택해 검색에 활용한다.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파일 정보: 생성된 GLB 파일명과 파일 크기를 표시해 저장 대상을 확인할 수 있게 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저장 버튼 활성 조건: 이름·카테고리·GLB 파일이 모두 준비된 경우에만 활성화된다.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저장 처리: 요청 중 입력과 중복 제출을 차단하고 업로드 또는 로컬 복사 진행 상태를 표시한다.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6. 저장 위치: 회원은 서버 가구 목록에 업로드하고 게스트는 기기 내 가구 저장소에 보관한다.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7. 저장 완료: 프로젝트의 내 가구 목록과 3D 에디터 카탈로그를 갱신하고 다음 동작을 안내한다.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8. 저장 실패: 파일 누락·업로드·저장 공간 오류를 안내하고 입력값을 유지한 채 재시도한다.</a:t>
                      </a:r>
                    </a:p>
                  </a:txBody>
                  <a:tcPr marL="91440" marR="91440" marT="45720" marB="4572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가구 만들기 &gt; 6단계 저장</a:t>
            </a:r>
          </a:p>
        </p:txBody>
      </p:sp>
      <p:pic>
        <p:nvPicPr>
          <p:cNvPr id="13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f70e10ac74dcb"/>
          <a:stretch xmlns:a="http://schemas.openxmlformats.org/drawingml/2006/main"/>
        </p:blipFill>
        <p:spPr>
          <a:xfrm xmlns:a="http://schemas.openxmlformats.org/drawingml/2006/main">
            <a:off x="2621228" y="2935080"/>
            <a:ext cx="1754863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1" name="표 14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설정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류동하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설정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SETTINGS-MAIN-001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계정, 저장 공간, 법적 정보, 지원 및 앱 정보를 관리한다.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/>
                    <a:lstStyle/>
                    <a:p/>
                  </a:txBody>
                  <a:tcPr marL="90000" marR="90000" marT="46800" marB="4680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계정 영역: 게스트는 로그인 버튼을, 로그인 사용자는 프로필 정보와 계정 메뉴를 표시한다.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프로필 설정: 프로필 이미지·닉네임·계정 통계 확인 및 수정 화면으로 이동한다.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로그인/로그아웃/탈퇴: 세션 상태에 맞는 동작을 제공하고 로그아웃·탈퇴 전 확인 절차를 거친다.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스캔 캐시: 기기에 저장된 임시 스캔 데이터 사용량을 표시하고 확인 후 안전하게 삭제한다.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법적 정보: 개인정보처리방침과 이용약관을 앱 내 웹 화면 또는 외부 브라우저로 연다.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6. 지원 메뉴: 문의 메일 작성과 오픈소스 라이선스 고지 화면을 제공한다.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7. 앱 정보: 현재 앱 버전과 빌드 정보를 표시하고 Debug 빌드에서는 개발자 설정을 제공한다.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8. 외부 동작 오류: 메일·링크를 열 수 없거나 캐시 삭제가 실패하면 원인과 대체 안내를 표시한다.</a:t>
                      </a:r>
                    </a:p>
                  </a:txBody>
                  <a:tcPr marL="91440" marR="91440" marT="45720" marB="4572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메인 탭 &gt; 설정</a:t>
            </a:r>
          </a:p>
        </p:txBody>
      </p:sp>
      <p:pic>
        <p:nvPicPr>
          <p:cNvPr id="13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0f581c4574218"/>
          <a:stretch xmlns:a="http://schemas.openxmlformats.org/drawingml/2006/main"/>
        </p:blipFill>
        <p:spPr>
          <a:xfrm xmlns:a="http://schemas.openxmlformats.org/drawingml/2006/main">
            <a:off x="2621228" y="2935080"/>
            <a:ext cx="1754863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1" name="표 14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설정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류동하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프로필 설정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SETTINGS-PROFILE-002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프로필 이미지와 닉네임을 수정하고 계정 현황을 확인한다.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/>
                    <a:lstStyle/>
                    <a:p/>
                  </a:txBody>
                  <a:tcPr marL="90000" marR="90000" marT="46800" marB="4680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프로필 이미지: 현재 이미지를 표시하고 카메라 촬영 또는 사진 선택으로 변경한다.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사진 권한/오류: 카메라·사진 권한을 확인하고 거부나 이미지 처리 실패 시 안내를 제공한다.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닉네임 입력: 기존 닉네임을 불러오며 공백 제거 후 유효한 변경값만 저장한다.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이메일 표시: 로그인 계정 식별값으로 읽기 전용 표시하며 이 화면에서는 수정하지 않는다.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계정 통계: 보유 프로젝트 수와 프로젝트에 포함된 전체 방 수를 최신 값으로 표시한다.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6. 저장 버튼: 이미지 또는 닉네임이 변경되고 입력값이 유효한 경우에만 저장을 수행한다.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7. 저장 상태: 처리 중 중복 입력을 막고 성공 시 프로필과 이전 화면의 사용자 정보를 갱신한다.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8. 로그아웃/실패 처리: 확인 후 인증 정보를 정리하며 저장 실패 시 변경값을 유지하고 재시도한다.</a:t>
                      </a:r>
                    </a:p>
                  </a:txBody>
                  <a:tcPr marL="91440" marR="91440" marT="45720" marB="45720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설정 &gt; 계정 &gt; 프로필 설정</a:t>
            </a:r>
          </a:p>
        </p:txBody>
      </p:sp>
      <p:pic>
        <p:nvPicPr>
          <p:cNvPr id="13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e11b7bd2143fd"/>
          <a:stretch xmlns:a="http://schemas.openxmlformats.org/drawingml/2006/main"/>
        </p:blipFill>
        <p:spPr>
          <a:xfrm xmlns:a="http://schemas.openxmlformats.org/drawingml/2006/main">
            <a:off x="2621316" y="2935080"/>
            <a:ext cx="1754689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2026-07-14T06:09:33.9930000Z</dcterms:created>
  <dcterms:modified xsi:type="dcterms:W3CDTF">2026-07-14T06:09:33.9930000Z</dcterms:modified>
</coreProperties>
</file>